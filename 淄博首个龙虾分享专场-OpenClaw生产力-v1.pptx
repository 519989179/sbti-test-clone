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252728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2231136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3209544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4187952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5166360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35808" y="6144768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179576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95344" y="2157984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3136392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4114800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5093208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4416" y="6071616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4184" y="1106424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084832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3063240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3488" y="4041648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63256" y="5020056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5998464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2792" y="1033272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2011680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2328" y="2990088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12096" y="3968496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41864" y="4946904"/>
            <a:ext cx="27432" cy="27432"/>
          </a:xfrm>
          <a:prstGeom prst="ellipse">
            <a:avLst/>
          </a:prstGeom>
          <a:solidFill>
            <a:srgbClr val="F6F8FC">
              <a:alpha val="50000"/>
            </a:srgbClr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71632" y="5925312"/>
            <a:ext cx="27432" cy="27432"/>
          </a:xfrm>
          <a:prstGeom prst="ellipse">
            <a:avLst/>
          </a:prstGeom>
          <a:solidFill>
            <a:srgbClr val="FF8E72">
              <a:alpha val="80000"/>
            </a:srgbClr>
          </a:solidFill>
          <a:ln w="12700">
            <a:solidFill>
              <a:srgbClr val="FF8E7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1097280"/>
            <a:ext cx="146304" cy="43891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1325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E72"/>
                </a:solidFill>
              </a:rPr>
              <a:t>淄博首个龙虾分享专场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87552" y="1847088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8FC"/>
                </a:solidFill>
              </a:rPr>
              <a:t>让 OpenClaw 成为生产力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005840" y="29992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FEA"/>
                </a:solidFill>
              </a:rPr>
              <a:t>拒绝技术黑话，手把手带你打造全自动“数字员工”流水线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87552" y="3913632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18233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7008" y="41330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8FC"/>
                </a:solidFill>
              </a:rPr>
              <a:t>分享人：艾乐  ·  96AI增长圈创始人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863840" y="141732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18233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1828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🦞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818388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E72"/>
                </a:solidFill>
              </a:rPr>
              <a:t>AI + 电脑 + 记忆 + 技能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47888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打造真正能干活的数字员工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疯狂的现象 —— 大家到底在抢什么？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深圳大厂排队、淘宝代安装，小龙虾突然成了新“网红生产力工具”。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大量用户不是先理解场景，而是先恐惧“错过”。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真正的问题不是“装没装”，而是：装完以后，能不能替你赚钱、替你省时间、替你做流程。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这场分享的核心任务：把热闹变成认知，把猎奇变成可复制落地。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深圳大厂排队图 + 淘宝代安装截图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各位淄博的老板们，最近大家肯定都被这只虾刷屏了。有人飞深圳排队，有人花钱找淘宝代装。但真正重要的不是追热点，而是看懂它到底能替你做什么。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本质区别 —— 从“能说”到“能做事”的重大跨越！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过去的 AI：问一句答一句，本质还是聊天机器人。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OpenClaw / Agent：拥有长期记忆、工具调用、主动执行和任务编排能力。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它不只会“给建议”，而是能直接进入任务链路，执行真实动作。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这就是从“会聊天”到“会交付”的跃迁。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聊天机器人 vs Agent 智能体对比图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不要把它跟平时用的豆包混为一谈。过去的 AI 是“能说”，而龙虾是“能做事”——有记忆、有动作、还能自己组团队。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拆解龙虾 —— 它的肚子里到底装了什么？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1463040" cy="1463040"/>
          </a:xfrm>
          <a:prstGeom prst="ellipse">
            <a:avLst/>
          </a:prstGeom>
          <a:solidFill>
            <a:srgbClr val="18233A"/>
          </a:solidFill>
          <a:ln w="25400">
            <a:solidFill>
              <a:srgbClr val="FF6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8928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大脑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负责理解与推理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057400"/>
            <a:ext cx="1005840" cy="0"/>
          </a:xfrm>
          <a:prstGeom prst="line">
            <a:avLst/>
          </a:prstGeom>
          <a:noFill/>
          <a:ln w="25400">
            <a:solidFill>
              <a:srgbClr val="22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325880"/>
            <a:ext cx="1463040" cy="1463040"/>
          </a:xfrm>
          <a:prstGeom prst="ellipse">
            <a:avLst/>
          </a:prstGeom>
          <a:solidFill>
            <a:srgbClr val="18233A"/>
          </a:solidFill>
          <a:ln w="25400">
            <a:solidFill>
              <a:srgbClr val="65B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8928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记忆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Memory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用文件代替脑子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2057400"/>
            <a:ext cx="1005840" cy="0"/>
          </a:xfrm>
          <a:prstGeom prst="line">
            <a:avLst/>
          </a:prstGeom>
          <a:noFill/>
          <a:ln w="25400">
            <a:solidFill>
              <a:srgbClr val="223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325880"/>
            <a:ext cx="1463040" cy="1463040"/>
          </a:xfrm>
          <a:prstGeom prst="ellipse">
            <a:avLst/>
          </a:prstGeom>
          <a:solidFill>
            <a:srgbClr val="18233A"/>
          </a:solidFill>
          <a:ln w="25400">
            <a:solidFill>
              <a:srgbClr val="46D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8928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技能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固化操作手册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057400"/>
            <a:ext cx="1005840" cy="0"/>
          </a:xfrm>
          <a:prstGeom prst="line">
            <a:avLst/>
          </a:prstGeom>
          <a:noFill/>
          <a:ln w="25400">
            <a:solidFill>
              <a:srgbClr val="2230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1325880"/>
            <a:ext cx="1463040" cy="1463040"/>
          </a:xfrm>
          <a:prstGeom prst="ellipse">
            <a:avLst/>
          </a:prstGeom>
          <a:solidFill>
            <a:srgbClr val="18233A"/>
          </a:solidFill>
          <a:ln w="25400">
            <a:solidFill>
              <a:srgbClr val="FFCD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8928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自动化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41080" y="2880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Cron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DFEA"/>
                </a:solidFill>
              </a:rPr>
              <a:t>7×24 小时运转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754880"/>
            <a:ext cx="10698480" cy="1188720"/>
          </a:xfrm>
          <a:prstGeom prst="roundRect">
            <a:avLst>
              <a:gd name="adj" fmla="val 4615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" y="5138928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剥开龙虾的壳，本质就是四个齿轮咬合：大模型负责思考，Memory 负责记住，Skills 负责按手册做事，Cron 负责让它一直自动转。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一个公式理解龙虾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18233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🤖 AI  +  💻 电脑  +  💾 记忆（文件）  +  ⚡ 技能（Skills）  =  🦞 龙虾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88720" y="3794760"/>
            <a:ext cx="9784080" cy="1234440"/>
          </a:xfrm>
          <a:prstGeom prst="roundRect">
            <a:avLst>
              <a:gd name="adj" fmla="val 3704"/>
            </a:avLst>
          </a:prstGeom>
          <a:solidFill>
            <a:srgbClr val="10182A"/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160520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FEA"/>
                </a:solidFill>
              </a:rPr>
              <a:t>光有智商没用，还得给它办公桌、工作记忆和专业技能，才会成为真正稳定、靠谱、能交付的数字员工。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66760" y="96012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1841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可替换为“公式图”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区别 1：它长了手 —— 告别“纸上谈兵”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普通 AI 常常停留在对话框里，需要人工复制、粘贴、转述。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OpenClaw 拿到一台完整电脑后，可以开浏览器、建文件、整理资料、写文档、跑流程。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它不只是“会分析”，而是“会执行”。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这意味着人不再是“打字员”，而是“指挥官”。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屏幕里的 AI vs 敲实体键盘的机械手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普通 AI 需要你人工喂资料，但小龙虾长了手。它拿到电脑最高权限后，能像真人一样打开浏览器、整理文件、真正开干。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区别 2：远程指挥 —— 真正的老板待遇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微信 / 飞书一句话发指令。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办公室电脑自动执行，任务在你看不见的地方自己跑起来。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你在外面开会、喝茶、见客户，流程已经在后台推进。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这才是老板视角：不亲自盯执行，只盯结果。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手机发指令 → 办公室电脑自动运行流程图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你在外面喝茶，只需要在飞书上发一句话，办公室那台电脑就自动唤醒、开始办事——这才叫真正的老板待遇。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为什么要“养”龙虾？私有数据是核心壁垒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ChatGPT 更像“每天失忆的天才”：聪明，但不懂你。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龙虾会持续积累你的资料、偏好、流程、经验和踩坑记录。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越用越懂你，越懂你越能少沟通、多执行。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共同记忆 + 私有数据 + 业务流程，构成真正的企业护城河。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“为什么要养龙虾”左右对比图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为什么叫“养”？因为它不是一次性工具，而是越来越懂你的数字员工。你养它两个月，它对你业务的理解，可能超过很多老员工。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龙虾核心能力 —— 没有 Skills，它只是个空壳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4937760" cy="3474720"/>
          </a:xfrm>
          <a:prstGeom prst="roundRect">
            <a:avLst>
              <a:gd name="adj" fmla="val 1579"/>
            </a:avLst>
          </a:prstGeom>
          <a:solidFill>
            <a:srgbClr val="18233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73152" cy="3474720"/>
          </a:xfrm>
          <a:prstGeom prst="rect">
            <a:avLst/>
          </a:prstGeom>
          <a:solidFill>
            <a:srgbClr val="65B5FF"/>
          </a:solidFill>
          <a:ln w="12700">
            <a:solidFill>
              <a:srgbClr val="65B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719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🦞 小龙虾 = 百年一遇的武学天才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029968"/>
            <a:ext cx="464515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FEA"/>
                </a:solidFill>
              </a:rPr>
              <a:t>理解能力、泛化能力、学习速度都很强。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DFEA"/>
                </a:solidFill>
              </a:rPr>
              <a:t>但如果没有具体招式，它依然无法稳定打赢真实工作。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4937760" cy="3474720"/>
          </a:xfrm>
          <a:prstGeom prst="roundRect">
            <a:avLst>
              <a:gd name="adj" fmla="val 1579"/>
            </a:avLst>
          </a:prstGeom>
          <a:solidFill>
            <a:srgbClr val="18233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73152" cy="347472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719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📚 Skills = 散落民间的绝世秘籍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2029968"/>
            <a:ext cx="464515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FEA"/>
                </a:solidFill>
              </a:rPr>
              <a:t>每个 Skill 都是在某个具体场景里反复打磨出来的操作手册。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DFEA"/>
                </a:solidFill>
              </a:rPr>
              <a:t>装上之后，天才才算真正拥有“出手即交付”的招式。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40680" y="2743200"/>
            <a:ext cx="640080" cy="548640"/>
          </a:xfrm>
          <a:prstGeom prst="chevron">
            <a:avLst/>
          </a:prstGeom>
          <a:solidFill>
            <a:srgbClr val="FFCD73"/>
          </a:solidFill>
          <a:ln w="12700">
            <a:solidFill>
              <a:srgbClr val="FFCD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3949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5412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57790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OpenClaw 刚装好时其实是个空壳。真正决定它能不能干活的，不只是大脑，而是你有没有给它装对 Skills。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真相揭秘 —— Skills 背后的算力消耗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0" y="2103120"/>
            <a:ext cx="1737360" cy="1097280"/>
          </a:xfrm>
          <a:prstGeom prst="ellipse">
            <a:avLst/>
          </a:prstGeom>
          <a:solidFill>
            <a:srgbClr val="18233A"/>
          </a:solidFill>
          <a:ln w="25400">
            <a:solidFill>
              <a:srgbClr val="FF6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小龙虾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Skills 调度中枢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146304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18233A"/>
          </a:solidFill>
          <a:ln w="19050">
            <a:solidFill>
              <a:srgbClr val="FF6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691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即梦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08960" y="1828800"/>
            <a:ext cx="2103120" cy="82296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411480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18233A"/>
          </a:solidFill>
          <a:ln w="19050">
            <a:solidFill>
              <a:srgbClr val="FFCD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343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Seedance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4480560"/>
            <a:ext cx="2103120" cy="-182880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46304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18233A"/>
          </a:solidFill>
          <a:ln w="19050">
            <a:solidFill>
              <a:srgbClr val="65B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691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Codex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0" y="1828800"/>
            <a:ext cx="-5760720" cy="82296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4114800"/>
            <a:ext cx="1920240" cy="731520"/>
          </a:xfrm>
          <a:prstGeom prst="roundRect">
            <a:avLst>
              <a:gd name="adj" fmla="val 5000"/>
            </a:avLst>
          </a:prstGeom>
          <a:solidFill>
            <a:srgbClr val="18233A"/>
          </a:solidFill>
          <a:ln w="19050">
            <a:solidFill>
              <a:srgbClr val="46D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4343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8FC"/>
                </a:solidFill>
              </a:rPr>
              <a:t>Kimi / GPT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89920" y="4480560"/>
            <a:ext cx="-5577840" cy="-1828800"/>
          </a:xfrm>
          <a:prstGeom prst="line">
            <a:avLst/>
          </a:prstGeom>
          <a:noFill/>
          <a:ln w="19050">
            <a:solidFill>
              <a:srgbClr val="22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886200"/>
            <a:ext cx="49377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8DFEA"/>
                </a:solidFill>
              </a:rPr>
              <a:t>生图调用即梦 / Gemini 等接口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8DFEA"/>
                </a:solidFill>
              </a:rPr>
              <a:t>视频调用多媒体生成接口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8DFEA"/>
                </a:solidFill>
              </a:rPr>
              <a:t>代码调用 Codex / 其他编程模型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8DFEA"/>
                </a:solidFill>
              </a:rPr>
              <a:t>对话、推理再调用 Kimi / GPT 等大模型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底层逻辑：单 Agent vs 多 Agent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单 Agent 包打天下：上下文臃肿、角色冲突、稳定性极差。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多 Agent 流水线：研究员、写手、设计、投放、分析各司其职。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总控负责调度，专业角色负责交付。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真正可规模化的，不是单点聪明，而是流程稳定。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单 Agent vs 多 Agent 结构图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让一个天才包揽所有事，写长文必崩；但把工作拆成流水线，每个人只干自己最擅长的一段，交付就稳了。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应用场景一：「艾乐同学」公众号自动化运营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1 个指令拉起 5 人高配团队：研究员 → 运营 → 文案 → 设计 → 数据分析。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所有角色都围绕同一个目标协作，而不是各自瞎忙。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从内容源筛选、重构，到排版、出图、发布，形成闭环。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老板只需要盯 KPI，不需要亲自填每个环节。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公众号自动化流程截图占位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这是我的真实业务后台。我给总控下一个目标，它就能瞬间拉起 5 个人的团队，最爽的是：我可以直接说“不需要审核，直接发布”。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应用场景二：总裁级 AI 专属早报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全网检索 → 内容筛选 → 整理排版 → 生成真人音频 → 推送飞书。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图文 + 音频双形态交付，适配通勤、开车、晨会前碎片时间。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从“看到信息”升级成“听懂重点”。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老板每天接收到的是处理后的决策信息，而不是噪音。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小星星早报 5 步流程截图占位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它每天早上自动抓取高质量信源，浓缩成文字重点，再生成 3-5 分钟真人语音播报，一起推到飞书。开车路上就能听完。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应用场景三：给 AI 装上“私人定制”嗓音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18233A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4942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DFEA"/>
                </a:solidFill>
              </a:rPr>
              <a:t>安装声音 Skills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2267712"/>
            <a:ext cx="502920" cy="256032"/>
          </a:xfrm>
          <a:prstGeom prst="chevron">
            <a:avLst/>
          </a:prstGeom>
          <a:solidFill>
            <a:srgbClr val="FFCD73"/>
          </a:solidFill>
          <a:ln w="12700">
            <a:solidFill>
              <a:srgbClr val="FFCD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2057400"/>
            <a:ext cx="640080" cy="640080"/>
          </a:xfrm>
          <a:prstGeom prst="ellipse">
            <a:avLst/>
          </a:prstGeom>
          <a:solidFill>
            <a:srgbClr val="18233A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24942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DFEA"/>
                </a:solidFill>
              </a:rPr>
              <a:t>配置 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2267712"/>
            <a:ext cx="502920" cy="256032"/>
          </a:xfrm>
          <a:prstGeom prst="chevron">
            <a:avLst/>
          </a:prstGeom>
          <a:solidFill>
            <a:srgbClr val="FFCD73"/>
          </a:solidFill>
          <a:ln w="12700">
            <a:solidFill>
              <a:srgbClr val="FFCD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2057400"/>
            <a:ext cx="640080" cy="640080"/>
          </a:xfrm>
          <a:prstGeom prst="ellipse">
            <a:avLst/>
          </a:prstGeom>
          <a:solidFill>
            <a:srgbClr val="18233A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24942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DFEA"/>
                </a:solidFill>
              </a:rPr>
              <a:t>生成语音气泡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2267712"/>
            <a:ext cx="502920" cy="256032"/>
          </a:xfrm>
          <a:prstGeom prst="chevron">
            <a:avLst/>
          </a:prstGeom>
          <a:solidFill>
            <a:srgbClr val="FFCD73"/>
          </a:solidFill>
          <a:ln w="12700">
            <a:solidFill>
              <a:srgbClr val="FFCD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057400"/>
            <a:ext cx="640080" cy="640080"/>
          </a:xfrm>
          <a:prstGeom prst="ellipse">
            <a:avLst/>
          </a:prstGeom>
          <a:solidFill>
            <a:srgbClr val="FF6B57"/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24942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DFEA"/>
                </a:solidFill>
              </a:rPr>
              <a:t>克隆指定声音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732520" y="2267712"/>
            <a:ext cx="502920" cy="256032"/>
          </a:xfrm>
          <a:prstGeom prst="chevron">
            <a:avLst/>
          </a:prstGeom>
          <a:solidFill>
            <a:srgbClr val="FFCD73"/>
          </a:solidFill>
          <a:ln w="12700">
            <a:solidFill>
              <a:srgbClr val="FFCD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38360" y="2057400"/>
            <a:ext cx="640080" cy="640080"/>
          </a:xfrm>
          <a:prstGeom prst="ellipse">
            <a:avLst/>
          </a:prstGeom>
          <a:solidFill>
            <a:srgbClr val="18233A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2249424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8FC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8320" y="2880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DFEA"/>
                </a:solidFill>
              </a:rPr>
              <a:t>实时发语音汇报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28800" y="4160520"/>
            <a:ext cx="8595360" cy="1051560"/>
          </a:xfrm>
          <a:prstGeom prst="roundRect">
            <a:avLst>
              <a:gd name="adj" fmla="val 4348"/>
            </a:avLst>
          </a:prstGeom>
          <a:solidFill>
            <a:srgbClr val="10182A"/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6F8FC"/>
                </a:solidFill>
              </a:rPr>
              <a:t>“让数字员工开口说话”，不是锦上添花，而是让老板第一次感受到：这个 AI 真的像个活着的员工。”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应用场景四：钉钉日报的“自动驾驶”与兜底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每晚固定时间自动生成、自动提交日报。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如果白天没有专门派活，它会回看当天 memory，自己汇总完成情况。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把“忘记汇报”这个管理问题彻底流程化解决。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真正优秀的系统，不只会冲锋，还能兜底。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日报自动提交流程截图占位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我给它设了晚上 22:30 自动写日报。就算白天没专门给它派活，它也会回翻当天 memory，把自己做过的事总结成标准日报自动交差。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应用场景五：最恐怖的“自我反思”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出错不可怕，可怕的是重复出错。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错误发生后：记录日志 → 总结原因 → 写入长期记忆 → 下次规避。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这让“经验”不再依赖某个员工的脑子，而是沉淀进系统。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越跑越稳，越错越强。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错误修复与反思截图占位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只要它犯过一次错，就会把原因和规避办法刻进 MEMORY.md。它追求的不是“偶尔聪明”，而是“零重复错误”。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使用风险一：官方点名的“数据裸奔”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本地部署一旦权限过大，误操作或恶意攻击都会直接触达真实文件系统。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问题不是 AI “笨不笨”，而是它一旦执行错，速度会比人更快、范围更大。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涉及企业内网、资料库、合同、财务数据时，权限控制必须前置。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管理者不能只看效率，不看边界。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工信部“六要六不要”新闻截图占位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今天工信部都在强调安全风险。本地乱装小龙虾，一旦权限放大、理解错指令，删文件、泄露数据的速度比真人快一万倍。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使用风险二：吞噬利润的“算力刺客”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免费安装只是入口，真正长期花钱的是算力。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看屏幕、调接口、出图、跑工作流，每一步都在烧 Token。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高频、无约束、全天候运行，成本很容易失控。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SOP 与权限边界，不只是安全要求，也是利润保护机制。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算力成本 / token 消耗可视化图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我给大家交个底，如果让它全天候跑满负荷，后台一天就能烧掉 10 到 70 美元。没有 SOP 约束，它跑算力比招个真人还贵。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使用风险三：AI 也会“阳奉阴违”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0352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AI 不是不会偷懒，而是会用“幻觉”假装完成任务。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遇到验证码、登录失败、页面结构变化时，它可能不报警，而是编一份“看起来很完整”的结果。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所以必须建立验收机制：抽样、校验、回执、日志、人工 spot check。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8DFEA"/>
                </a:solidFill>
              </a:rPr>
              <a:t>把 AI 当员工管理，而不是当神。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11192B"/>
          </a:solidFill>
          <a:ln w="1524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00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9AB0"/>
                </a:solidFill>
              </a:rPr>
              <a:t>AI 幻觉交差风险示意图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4901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19088" y="5138928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它有时候也像职场老油条。真遇到卡点时，不一定主动报错，反而可能靠“幻觉”给你编一份完美报告交差，所以你必须建立验收机制。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5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OpenClaw · 淄博分享专场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落地抉择：本地部署 vs 云端部署怎么选？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E72"/>
                </a:solidFill>
              </a:rPr>
              <a:t>云端平替方案：Kimi Claw、Qclaw、Arkclaw 等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8992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本地部署（OpenClaw）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云端部署（Kimi/Qclaw/Arkclaw）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硬件要求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极高（需高配显卡/设备）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零要求（有浏览器就能跑）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系统权限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接管物理电脑（最高风险，可删本地文件）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沙盒隔离（更安全）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算力成本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极高且上不封顶（API 计费）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极低或固定会员费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适合人群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技术极客 / 有独立网段企业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8DFE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业务老板 / 小白 / 运营团队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557784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0182A">
              <a:alpha val="95000"/>
            </a:srgbClr>
          </a:solidFill>
          <a:ln w="15240">
            <a:solidFill>
              <a:srgbClr val="FF6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5724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E72"/>
                </a:solidFill>
              </a:rPr>
              <a:t>演讲话术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4128" y="5961888"/>
            <a:ext cx="10241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F8FC"/>
                </a:solidFill>
              </a:rPr>
              <a:t>如果你是业务老板、小白、运营团队，最优解通常不是本地裸奔，而是先用云端方案，把安全、成本和门槛都压下去。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20116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未来的老板，不再是亲自下场搬砖，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269748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8FC"/>
                </a:solidFill>
              </a:rPr>
              <a:t>而是管理一套不知疲倦的数字系统。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11880" y="3657600"/>
            <a:ext cx="4983480" cy="0"/>
          </a:xfrm>
          <a:prstGeom prst="line">
            <a:avLst/>
          </a:prstGeom>
          <a:noFill/>
          <a:ln w="27940">
            <a:solidFill>
              <a:srgbClr val="FF6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4069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E72"/>
                </a:solidFill>
              </a:rPr>
              <a:t>把琐事交给 AI，把大脑留给商业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0" y="5074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9AB0"/>
                </a:solidFill>
              </a:rPr>
              <a:t>谢谢大家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96AI增长圈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淄博首个龙虾分享专场 — 让 OpenClaw 成为生产力</dc:title>
  <dc:subject>OpenClaw 分享专场</dc:subject>
  <dc:creator>卷卷</dc:creator>
  <cp:lastModifiedBy>卷卷</cp:lastModifiedBy>
  <cp:revision>1</cp:revision>
  <dcterms:created xsi:type="dcterms:W3CDTF">2026-03-14T03:39:24Z</dcterms:created>
  <dcterms:modified xsi:type="dcterms:W3CDTF">2026-03-14T03:39:24Z</dcterms:modified>
</cp:coreProperties>
</file>